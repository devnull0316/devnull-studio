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はじめに" id="{548190f3-2cf9-1901-a57c-98f60978870e}">
          <p14:sldIdLst>
            <p14:sldId id="256"/>
          </p14:sldIdLst>
        </p14:section>
        <p14:section name="プラン概要" id="{a8e5dd88-09b4-7681-4ef4-8dfc15fa8fb3}">
          <p14:sldIdLst>
            <p14:sldId id="257"/>
          </p14:sldIdLst>
        </p14:section>
        <p14:section name="行程表" id="{3dc0e702-306e-3134-7d9b-0613a484c972}">
          <p14:sldIdLst>
            <p14:sldId id="258"/>
          </p14:sldIdLst>
        </p14:section>
        <p14:section name="観光地の紹介" id="{d70f33c5-6be5-ed24-25cd-09c06172cda2}">
          <p14:sldIdLst>
            <p14:sldId id="259"/>
            <p14:sldId id="260"/>
            <p14:sldId id="261"/>
          </p14:sldIdLst>
        </p14:section>
        <p14:section name="宿泊・予算" id="{fecfa3df-976d-5d18-ba69-d8cc4eb3ace9}">
          <p14:sldIdLst>
            <p14:sldId id="262"/>
            <p14:sldId id="263"/>
          </p14:sldIdLst>
        </p14:section>
        <p14:section name="まとめ" id="{14486d15-5ca6-2586-b357-c86bbfc5a5af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みなさん、こんにちは。旅行代理店の〇〇です。
本日は、ご依頼いただいた卒業旅行のプランをご提案します。行き先は春の京都と大阪、2泊3日のプランです。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日程は令和8年3月10日から12日まで。友人グループ4名で、費用は1人約6万5千円です。
移動は新幹線のぞみを使います。博多から京都まで乗り換えなしで約2時間40分なので、疲れにくいです。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1日目は朝8時に博多を出発し、京都の名所をめぐって、夜は大阪の道頓堀へ。
2日目は1日たっぷりUSJ。
3日目は大阪城と新世界を観光し、18時10分に博多へ戻ります。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京都では、朱色の千本鳥居が続く伏見稲荷大社、食べ歩きが楽しい錦市場、そして清水の舞台で有名な清水寺をめぐります。写真映えするスポットばかりです。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2日目はUSJです。マリオの世界に入りこめるスーパー・ニンテンドー・ワールドや、ハリー・ポッターのエリアを楽しみます。
3月の平日なので、比較的すいているのもポイントです。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大阪では、道頓堀でたこ焼きやお好み焼きを味わい、3日目は大阪城の天守閣から街を見わたします。お昼は新世界で名物の串カツを食べます。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ホテルは、なんば駅から徒歩5分のシティホテルに2泊します。4人1室、朝食付きで1人1泊約6千円です。
2泊とも同じホテルなので、荷物を持ち歩く必要もありません。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予算は1人あたり約6万5千円です。いちばん大きいのは新幹線の往復で約2万8千5百円です。
学割で乗車券を2割引きにし、4人1室にすることで、高校生でも出せる金額におさえました。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このプランのおすすめは3つです。
1つ目、京都・大阪・USJを一度に満喫できること。2つ目、約6万5千円と高校生にもやさしい費用であること。3つ目、新幹線で乗り換えなしの、移動がラクなプランであることです。
ぜひこのプランで、最高の卒業旅行にしましょう。ご清聴ありがとうございました。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417320"/>
            <a:ext cx="78638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468880"/>
            <a:ext cx="786384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卒業旅行プラン｜京都・大阪 2泊3日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417320"/>
            <a:ext cx="7863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春の京都・大阪 卒業旅行プラン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4688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2"/>
                </a:solidFill>
              </a:rPr>
              <a:t>2泊3日で、高校最後の春を一生の思い出に</a:t>
            </a:r>
            <a:endParaRPr lang="en-US" sz="2000" dirty="0"/>
          </a:p>
        </p:txBody>
      </p:sp>
      <p:sp>
        <p:nvSpPr>
          <p:cNvPr id="4" name="torii circle"/>
          <p:cNvSpPr/>
          <p:nvPr/>
        </p:nvSpPr>
        <p:spPr>
          <a:xfrm>
            <a:off x="640080" y="50292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torii icon" descr="tori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390" y="697230"/>
            <a:ext cx="388620" cy="3886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34290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日程：令和8年3月10日（火）〜 12日（木）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提案：旅行代理店　担当　　　　　　　　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プランの概要</a:t>
            </a:r>
            <a:endParaRPr lang="en-US" sz="2800" dirty="0"/>
          </a:p>
        </p:txBody>
      </p:sp>
      <p:sp>
        <p:nvSpPr>
          <p:cNvPr id="3" name="overview card 1"/>
          <p:cNvSpPr/>
          <p:nvPr/>
        </p:nvSpPr>
        <p:spPr>
          <a:xfrm>
            <a:off x="457200" y="1188720"/>
            <a:ext cx="1828800" cy="25146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overview 行き先 circle"/>
          <p:cNvSpPr/>
          <p:nvPr/>
        </p:nvSpPr>
        <p:spPr>
          <a:xfrm>
            <a:off x="1097280" y="1417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overview 行き先 icon" descr="overview 行き先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1554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0574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行き先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3774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京都・大阪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29260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伏見稲荷・清水寺・USJ ほか</a:t>
            </a:r>
            <a:endParaRPr lang="en-US" sz="1100" dirty="0"/>
          </a:p>
        </p:txBody>
      </p:sp>
      <p:sp>
        <p:nvSpPr>
          <p:cNvPr id="9" name="overview card 2"/>
          <p:cNvSpPr/>
          <p:nvPr/>
        </p:nvSpPr>
        <p:spPr>
          <a:xfrm>
            <a:off x="2560320" y="1188720"/>
            <a:ext cx="1828800" cy="25146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overview 日程 circle"/>
          <p:cNvSpPr/>
          <p:nvPr/>
        </p:nvSpPr>
        <p:spPr>
          <a:xfrm>
            <a:off x="3200400" y="1417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overview 日程 icon" descr="overview 日程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55448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651760" y="20574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日程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2651760" y="23774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2泊3日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2697480" y="29260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令和8年3月10日（火）〜12日（木）</a:t>
            </a:r>
            <a:endParaRPr lang="en-US" sz="1100" dirty="0"/>
          </a:p>
        </p:txBody>
      </p:sp>
      <p:sp>
        <p:nvSpPr>
          <p:cNvPr id="15" name="overview card 3"/>
          <p:cNvSpPr/>
          <p:nvPr/>
        </p:nvSpPr>
        <p:spPr>
          <a:xfrm>
            <a:off x="4663440" y="1188720"/>
            <a:ext cx="1828800" cy="25146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overview 人数 circle"/>
          <p:cNvSpPr/>
          <p:nvPr/>
        </p:nvSpPr>
        <p:spPr>
          <a:xfrm>
            <a:off x="5303520" y="1417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overview 人数 icon" descr="overview 人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554480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754880" y="20574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人数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4754880" y="23774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4名</a:t>
            </a:r>
            <a:endParaRPr lang="en-US" sz="2200" dirty="0"/>
          </a:p>
        </p:txBody>
      </p:sp>
      <p:sp>
        <p:nvSpPr>
          <p:cNvPr id="20" name="Text 15"/>
          <p:cNvSpPr txBox="1"/>
          <p:nvPr/>
        </p:nvSpPr>
        <p:spPr>
          <a:xfrm>
            <a:off x="4800600" y="29260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友人グループ（人数変更OK）</a:t>
            </a:r>
            <a:endParaRPr lang="en-US" sz="1100" dirty="0"/>
          </a:p>
        </p:txBody>
      </p:sp>
      <p:sp>
        <p:nvSpPr>
          <p:cNvPr id="21" name="overview card 4"/>
          <p:cNvSpPr/>
          <p:nvPr/>
        </p:nvSpPr>
        <p:spPr>
          <a:xfrm>
            <a:off x="6766560" y="1188720"/>
            <a:ext cx="1828800" cy="25146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overview 費用（1人） circle"/>
          <p:cNvSpPr/>
          <p:nvPr/>
        </p:nvSpPr>
        <p:spPr>
          <a:xfrm>
            <a:off x="7406640" y="141732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3" name="overview 費用（1人） icon" descr="overview 費用（1人）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1554480"/>
            <a:ext cx="274320" cy="27432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858000" y="20574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費用（1人）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6858000" y="23774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約65,000円</a:t>
            </a:r>
            <a:endParaRPr lang="en-US" sz="1900" dirty="0"/>
          </a:p>
        </p:txBody>
      </p:sp>
      <p:sp>
        <p:nvSpPr>
          <p:cNvPr id="26" name="Text 20"/>
          <p:cNvSpPr txBox="1"/>
          <p:nvPr/>
        </p:nvSpPr>
        <p:spPr>
          <a:xfrm>
            <a:off x="6903720" y="29260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交通・宿泊・入場料・食費込み</a:t>
            </a:r>
            <a:endParaRPr lang="en-US" sz="1100" dirty="0"/>
          </a:p>
        </p:txBody>
      </p:sp>
      <p:sp>
        <p:nvSpPr>
          <p:cNvPr id="27" name="train circle"/>
          <p:cNvSpPr/>
          <p:nvPr/>
        </p:nvSpPr>
        <p:spPr>
          <a:xfrm>
            <a:off x="457200" y="397764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8" name="train icon" descr="trai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4091940"/>
            <a:ext cx="228600" cy="22860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051560" y="393192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移動は新幹線（のぞみ）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　博多 → 京都 約2時間40分。乗り換えなしで疲れにくく、平日出発で混雑も避けられます。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行程表</a:t>
            </a:r>
            <a:endParaRPr lang="en-US" sz="2800" dirty="0"/>
          </a:p>
        </p:txBody>
      </p:sp>
      <p:sp>
        <p:nvSpPr>
          <p:cNvPr id="3" name="day card 1"/>
          <p:cNvSpPr/>
          <p:nvPr/>
        </p:nvSpPr>
        <p:spPr>
          <a:xfrm>
            <a:off x="457200" y="1051560"/>
            <a:ext cx="2615184" cy="3566160"/>
          </a:xfrm>
          <a:prstGeom prst="roundRect">
            <a:avLst>
              <a:gd name="adj" fmla="val 41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day header 1"/>
          <p:cNvSpPr/>
          <p:nvPr/>
        </p:nvSpPr>
        <p:spPr>
          <a:xfrm>
            <a:off x="594360" y="1188720"/>
            <a:ext cx="2340864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188720"/>
            <a:ext cx="2340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1日目　3/10（火）</a:t>
            </a:r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　京都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28800"/>
            <a:ext cx="2295144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</a:rPr>
              <a:t>8:00　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博多駅 出発（のぞみ）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</a:rPr>
              <a:t>10:40　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京都駅 到着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</a:rPr>
              <a:t>11:00　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伏見稲荷大社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</a:rPr>
              <a:t>13:00　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錦市場で食べ歩き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</a:rPr>
              <a:t>14:30　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清水寺・産寧坂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</a:rPr>
              <a:t>16:30　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祇園・花見小路を散策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</a:rPr>
              <a:t>18:00　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JRで大阪へ・ホテル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</a:rPr>
              <a:t>19:30　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道頓堀で夕食</a:t>
            </a:r>
            <a:endParaRPr lang="en-US" sz="1250" dirty="0"/>
          </a:p>
        </p:txBody>
      </p:sp>
      <p:sp>
        <p:nvSpPr>
          <p:cNvPr id="7" name="day card 2"/>
          <p:cNvSpPr/>
          <p:nvPr/>
        </p:nvSpPr>
        <p:spPr>
          <a:xfrm>
            <a:off x="3264408" y="1051560"/>
            <a:ext cx="2615184" cy="3566160"/>
          </a:xfrm>
          <a:prstGeom prst="roundRect">
            <a:avLst>
              <a:gd name="adj" fmla="val 41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day header 2"/>
          <p:cNvSpPr/>
          <p:nvPr/>
        </p:nvSpPr>
        <p:spPr>
          <a:xfrm>
            <a:off x="3401568" y="1188720"/>
            <a:ext cx="2340864" cy="502920"/>
          </a:xfrm>
          <a:prstGeom prst="roundRect">
            <a:avLst>
              <a:gd name="adj" fmla="val 1818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01568" y="1188720"/>
            <a:ext cx="2340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2日目　3/11（水）</a:t>
            </a:r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　USJ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828800"/>
            <a:ext cx="2295144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chemeClr val="accent5"/>
                </a:solidFill>
              </a:rPr>
              <a:t>7:30　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朝食・ホテル出発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chemeClr val="accent5"/>
                </a:solidFill>
              </a:rPr>
              <a:t>8:15　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USJ 入場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chemeClr val="accent5"/>
                </a:solidFill>
              </a:rPr>
              <a:t>午前　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ニンテンドー・ワールド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chemeClr val="accent5"/>
                </a:solidFill>
              </a:rPr>
              <a:t>12:00　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パーク内でランチ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chemeClr val="accent5"/>
                </a:solidFill>
              </a:rPr>
              <a:t>午後　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ハリー・ポッター ほか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chemeClr val="accent5"/>
                </a:solidFill>
              </a:rPr>
              <a:t>18:00　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パーク内で夕食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chemeClr val="accent5"/>
                </a:solidFill>
              </a:rPr>
              <a:t>20:00　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退園・ホテルへ</a:t>
            </a:r>
            <a:endParaRPr lang="en-US" sz="1250" dirty="0"/>
          </a:p>
        </p:txBody>
      </p:sp>
      <p:sp>
        <p:nvSpPr>
          <p:cNvPr id="11" name="day card 3"/>
          <p:cNvSpPr/>
          <p:nvPr/>
        </p:nvSpPr>
        <p:spPr>
          <a:xfrm>
            <a:off x="6071616" y="1051560"/>
            <a:ext cx="2615184" cy="3566160"/>
          </a:xfrm>
          <a:prstGeom prst="roundRect">
            <a:avLst>
              <a:gd name="adj" fmla="val 41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day header 3"/>
          <p:cNvSpPr/>
          <p:nvPr/>
        </p:nvSpPr>
        <p:spPr>
          <a:xfrm>
            <a:off x="6208776" y="1188720"/>
            <a:ext cx="2340864" cy="502920"/>
          </a:xfrm>
          <a:prstGeom prst="roundRect">
            <a:avLst>
              <a:gd name="adj" fmla="val 18182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08776" y="1188720"/>
            <a:ext cx="2340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3日目　3/12（木）</a:t>
            </a:r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　大阪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254496" y="1828800"/>
            <a:ext cx="2295144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chemeClr val="accent4"/>
                </a:solidFill>
              </a:rPr>
              <a:t>8:00　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朝食・チェックアウト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chemeClr val="accent4"/>
                </a:solidFill>
              </a:rPr>
              <a:t>9:30　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大阪城 天守閣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chemeClr val="accent4"/>
                </a:solidFill>
              </a:rPr>
              <a:t>12:00　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新世界で串カツ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chemeClr val="accent4"/>
                </a:solidFill>
              </a:rPr>
              <a:t>14:00　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なんばでおみやげ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chemeClr val="accent4"/>
                </a:solidFill>
              </a:rPr>
              <a:t>15:30　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新大阪駅 出発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chemeClr val="accent4"/>
                </a:solidFill>
              </a:rPr>
              <a:t>18:10　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博多駅 到着・解散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1日目：京都をめぐる</a:t>
            </a:r>
            <a:endParaRPr lang="en-US" sz="2800" dirty="0"/>
          </a:p>
        </p:txBody>
      </p:sp>
      <p:sp>
        <p:nvSpPr>
          <p:cNvPr id="3" name="kyoto card 1"/>
          <p:cNvSpPr/>
          <p:nvPr/>
        </p:nvSpPr>
        <p:spPr>
          <a:xfrm>
            <a:off x="457200" y="1097280"/>
            <a:ext cx="2615184" cy="3429000"/>
          </a:xfrm>
          <a:prstGeom prst="roundRect">
            <a:avLst>
              <a:gd name="adj" fmla="val 41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伏見稲荷大社 circle"/>
          <p:cNvSpPr/>
          <p:nvPr/>
        </p:nvSpPr>
        <p:spPr>
          <a:xfrm>
            <a:off x="685800" y="13258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伏見稲荷大社 icon" descr="伏見稲荷大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" y="148590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2103120"/>
            <a:ext cx="2157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伏見稲荷大社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560320"/>
            <a:ext cx="21579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朱色の「千本鳥居」がどこまでも続く、京都いちの写真スポット。外国人観光客にも大人気です。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977640"/>
            <a:ext cx="2157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参拝無料</a:t>
            </a:r>
            <a:endParaRPr lang="en-US" sz="1100" dirty="0"/>
          </a:p>
        </p:txBody>
      </p:sp>
      <p:sp>
        <p:nvSpPr>
          <p:cNvPr id="9" name="kyoto card 2"/>
          <p:cNvSpPr/>
          <p:nvPr/>
        </p:nvSpPr>
        <p:spPr>
          <a:xfrm>
            <a:off x="3264408" y="1097280"/>
            <a:ext cx="2615184" cy="3429000"/>
          </a:xfrm>
          <a:prstGeom prst="roundRect">
            <a:avLst>
              <a:gd name="adj" fmla="val 41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錦市場 circle"/>
          <p:cNvSpPr/>
          <p:nvPr/>
        </p:nvSpPr>
        <p:spPr>
          <a:xfrm>
            <a:off x="3493008" y="13258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錦市場 icon" descr="錦市場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3028" y="148590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493008" y="2103120"/>
            <a:ext cx="2157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錦市場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3493008" y="2560320"/>
            <a:ext cx="21579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「京都の台所」とよばれる商店街。だし巻き玉子や豆乳ドーナツなど、食べ歩きが楽しめます。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3493008" y="3977640"/>
            <a:ext cx="2157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ランチ予算 1,000円</a:t>
            </a:r>
            <a:endParaRPr lang="en-US" sz="1100" dirty="0"/>
          </a:p>
        </p:txBody>
      </p:sp>
      <p:sp>
        <p:nvSpPr>
          <p:cNvPr id="15" name="kyoto card 3"/>
          <p:cNvSpPr/>
          <p:nvPr/>
        </p:nvSpPr>
        <p:spPr>
          <a:xfrm>
            <a:off x="6071616" y="1097280"/>
            <a:ext cx="2615184" cy="3429000"/>
          </a:xfrm>
          <a:prstGeom prst="roundRect">
            <a:avLst>
              <a:gd name="adj" fmla="val 41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清水寺・産寧坂 circle"/>
          <p:cNvSpPr/>
          <p:nvPr/>
        </p:nvSpPr>
        <p:spPr>
          <a:xfrm>
            <a:off x="6300216" y="13258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清水寺・産寧坂 icon" descr="清水寺・産寧坂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0236" y="1485900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00216" y="2103120"/>
            <a:ext cx="2157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清水寺・産寧坂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6300216" y="2560320"/>
            <a:ext cx="21579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有名な「清水の舞台」から京都の街を一望。坂道にはおみやげ店やカフェが並びます。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6300216" y="3977640"/>
            <a:ext cx="2157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拝観料 400円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2日目：USJで1日遊びつくす</a:t>
            </a:r>
            <a:endParaRPr lang="en-US" sz="2800" dirty="0"/>
          </a:p>
        </p:txBody>
      </p:sp>
      <p:sp>
        <p:nvSpPr>
          <p:cNvPr id="3" name="usj hero"/>
          <p:cNvSpPr/>
          <p:nvPr/>
        </p:nvSpPr>
        <p:spPr>
          <a:xfrm>
            <a:off x="457200" y="1097280"/>
            <a:ext cx="3291840" cy="3429000"/>
          </a:xfrm>
          <a:prstGeom prst="roundRect">
            <a:avLst>
              <a:gd name="adj" fmla="val 3333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4" name="usj circle"/>
          <p:cNvSpPr/>
          <p:nvPr/>
        </p:nvSpPr>
        <p:spPr>
          <a:xfrm>
            <a:off x="731520" y="1371600"/>
            <a:ext cx="685800" cy="6858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usj icon" descr="us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2970" y="1543050"/>
            <a:ext cx="342900" cy="342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1945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ユニバーサル・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スタジオ・ジャパン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1089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8:15 入場 〜 20:00 退園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56616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1デイ・スタジオ・パス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約9,000円（日によって変動）</a:t>
            </a:r>
            <a:endParaRPr lang="en-US" sz="1200" dirty="0"/>
          </a:p>
        </p:txBody>
      </p:sp>
      <p:sp>
        <p:nvSpPr>
          <p:cNvPr id="9" name="usj point 1 circle"/>
          <p:cNvSpPr/>
          <p:nvPr/>
        </p:nvSpPr>
        <p:spPr>
          <a:xfrm>
            <a:off x="4069080" y="1188720"/>
            <a:ext cx="548640" cy="54864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0" name="usj point 1 icon" descr="usj point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32588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800600" y="109728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スーパー・ニンテンドー・ワールド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4800600" y="1481328"/>
            <a:ext cx="3886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マリオの世界に入りこめる人気エリア。みんなでパワーアップバンドをつけて遊べます。</a:t>
            </a:r>
            <a:endParaRPr lang="en-US" sz="1200" dirty="0"/>
          </a:p>
        </p:txBody>
      </p:sp>
      <p:sp>
        <p:nvSpPr>
          <p:cNvPr id="13" name="usj point 2 circle"/>
          <p:cNvSpPr/>
          <p:nvPr/>
        </p:nvSpPr>
        <p:spPr>
          <a:xfrm>
            <a:off x="4069080" y="2377440"/>
            <a:ext cx="548640" cy="54864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4" name="usj point 2 icon" descr="usj point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251460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800600" y="228600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ハリー・ポッターのエリア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4800600" y="2670048"/>
            <a:ext cx="3886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ホグワーツ城やホグズミード村を再現。バタービールで乾杯！</a:t>
            </a:r>
            <a:endParaRPr lang="en-US" sz="1200" dirty="0"/>
          </a:p>
        </p:txBody>
      </p:sp>
      <p:sp>
        <p:nvSpPr>
          <p:cNvPr id="17" name="usj point 3 circle"/>
          <p:cNvSpPr/>
          <p:nvPr/>
        </p:nvSpPr>
        <p:spPr>
          <a:xfrm>
            <a:off x="4069080" y="3566160"/>
            <a:ext cx="548640" cy="54864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8" name="usj point 3 icon" descr="usj point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6240" y="3703320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800600" y="347472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平日だから待ち時間が短め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4800600" y="3858768"/>
            <a:ext cx="3886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3月の平日をえらんだので、春休み前で比較的すいています。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1日目夜・3日目：大阪を楽しむ</a:t>
            </a:r>
            <a:endParaRPr lang="en-US" sz="2800" dirty="0"/>
          </a:p>
        </p:txBody>
      </p:sp>
      <p:sp>
        <p:nvSpPr>
          <p:cNvPr id="3" name="osaka row 1"/>
          <p:cNvSpPr/>
          <p:nvPr/>
        </p:nvSpPr>
        <p:spPr>
          <a:xfrm>
            <a:off x="457200" y="1097280"/>
            <a:ext cx="822960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道頓堀 circle"/>
          <p:cNvSpPr/>
          <p:nvPr/>
        </p:nvSpPr>
        <p:spPr>
          <a:xfrm>
            <a:off x="685800" y="1280160"/>
            <a:ext cx="640080" cy="6400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5" name="道頓堀 icon" descr="道頓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" y="144018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09728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道頓堀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3383280" y="109728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グリコの看板で記念撮影。たこ焼き・お好み焼きなど「くいだおれ」の街で夕食。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223760" y="1097280"/>
            <a:ext cx="1280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夕食 約1,500円</a:t>
            </a:r>
            <a:endParaRPr lang="en-US" sz="1100" dirty="0"/>
          </a:p>
        </p:txBody>
      </p:sp>
      <p:sp>
        <p:nvSpPr>
          <p:cNvPr id="9" name="osaka row 2"/>
          <p:cNvSpPr/>
          <p:nvPr/>
        </p:nvSpPr>
        <p:spPr>
          <a:xfrm>
            <a:off x="457200" y="2258568"/>
            <a:ext cx="822960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大阪城 circle"/>
          <p:cNvSpPr/>
          <p:nvPr/>
        </p:nvSpPr>
        <p:spPr>
          <a:xfrm>
            <a:off x="685800" y="2441448"/>
            <a:ext cx="640080" cy="6400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大阪城 icon" descr="大阪城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" y="2601468"/>
            <a:ext cx="320040" cy="3200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554480" y="2258568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大阪城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3383280" y="2258568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豊臣秀吉が築いたお城。天守閣の展望台から大阪の街を一望できます。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7223760" y="2258568"/>
            <a:ext cx="1280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入館料 600円</a:t>
            </a:r>
            <a:endParaRPr lang="en-US" sz="1100" dirty="0"/>
          </a:p>
        </p:txBody>
      </p:sp>
      <p:sp>
        <p:nvSpPr>
          <p:cNvPr id="15" name="osaka row 3"/>
          <p:cNvSpPr/>
          <p:nvPr/>
        </p:nvSpPr>
        <p:spPr>
          <a:xfrm>
            <a:off x="457200" y="3419856"/>
            <a:ext cx="822960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新世界・通天閣 circle"/>
          <p:cNvSpPr/>
          <p:nvPr/>
        </p:nvSpPr>
        <p:spPr>
          <a:xfrm>
            <a:off x="685800" y="3602736"/>
            <a:ext cx="640080" cy="6400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7" name="新世界・通天閣 icon" descr="新世界・通天閣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" y="3762756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554480" y="3419856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新世界・通天閣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3383280" y="3419856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レトロな街並みで大阪名物の串カツランチ。ビリケンさんの足をなでると幸運に！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7223760" y="3419856"/>
            <a:ext cx="1280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昼食 約1,500円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宿泊ホテルの紹介</a:t>
            </a:r>
            <a:endParaRPr lang="en-US" sz="2800" dirty="0"/>
          </a:p>
        </p:txBody>
      </p:sp>
      <p:sp>
        <p:nvSpPr>
          <p:cNvPr id="3" name="hotel summary"/>
          <p:cNvSpPr/>
          <p:nvPr/>
        </p:nvSpPr>
        <p:spPr>
          <a:xfrm>
            <a:off x="457200" y="1097280"/>
            <a:ext cx="3749040" cy="3429000"/>
          </a:xfrm>
          <a:prstGeom prst="roundRect">
            <a:avLst>
              <a:gd name="adj" fmla="val 32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hotel circle"/>
          <p:cNvSpPr/>
          <p:nvPr/>
        </p:nvSpPr>
        <p:spPr>
          <a:xfrm>
            <a:off x="731520" y="137160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hotel icon" descr="hot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2970" y="1543050"/>
            <a:ext cx="342900" cy="342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19456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なんば駅周辺の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シティホテル（2泊）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2004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1人1泊 約6,000円</a:t>
            </a:r>
            <a:endParaRPr lang="en-US" sz="2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4人1室・朝食付きの場合</a:t>
            </a:r>
            <a:endParaRPr lang="en-US" sz="2200" dirty="0"/>
          </a:p>
        </p:txBody>
      </p:sp>
      <p:sp>
        <p:nvSpPr>
          <p:cNvPr id="8" name="hotel point 1 circle"/>
          <p:cNvSpPr/>
          <p:nvPr/>
        </p:nvSpPr>
        <p:spPr>
          <a:xfrm>
            <a:off x="4526280" y="11887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hotel point 1 icon" descr="hotel point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325880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257800" y="109728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駅から徒歩5分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5257800" y="1481328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道頓堀・黒門市場が歩いて行ける距離。夜の移動も安心です。</a:t>
            </a:r>
            <a:endParaRPr lang="en-US" sz="1200" dirty="0"/>
          </a:p>
        </p:txBody>
      </p:sp>
      <p:sp>
        <p:nvSpPr>
          <p:cNvPr id="12" name="hotel point 2 circle"/>
          <p:cNvSpPr/>
          <p:nvPr/>
        </p:nvSpPr>
        <p:spPr>
          <a:xfrm>
            <a:off x="4526280" y="23774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hotel point 2 icon" descr="hotel point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514600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257800" y="228600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4人1室で割安＆楽しい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257800" y="2670048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みんなで同じ部屋に泊まれるので、夜もおしゃべりで盛り上がれます。</a:t>
            </a:r>
            <a:endParaRPr lang="en-US" sz="1200" dirty="0"/>
          </a:p>
        </p:txBody>
      </p:sp>
      <p:sp>
        <p:nvSpPr>
          <p:cNvPr id="16" name="hotel point 3 circle"/>
          <p:cNvSpPr/>
          <p:nvPr/>
        </p:nvSpPr>
        <p:spPr>
          <a:xfrm>
            <a:off x="4526280" y="35661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hotel point 3 icon" descr="hotel point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703320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257800" y="347472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USJ・京都へアクセス良好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5257800" y="3858768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USJへ電車で約30分。2泊とも同じホテルなので荷物の移動もなし。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予算書（1人あたり）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475488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6459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項目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金額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新幹線 往復（学割）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28,500円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宿泊費（2泊・朝食付き）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12,000円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USJ チケット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9,000円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食費（昼・夕 計5回）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7,500円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おみやげ・予備費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4,500円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現地の電車・地下鉄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2,500円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拝観料・入館料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1,000円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合計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65,000円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budget total"/>
          <p:cNvSpPr/>
          <p:nvPr/>
        </p:nvSpPr>
        <p:spPr>
          <a:xfrm>
            <a:off x="5486400" y="1051560"/>
            <a:ext cx="3200400" cy="329184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5715000" y="1234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1人あたり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715000" y="155448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約6.5万円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71500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節約のくふう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715000" y="269748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学割で新幹線の乗車券が2割引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4人1室で宿泊費をおさえる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平日出発でホテルも安め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※金額は目安です。時期・予約状況により変わります。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このプランをおすすめする3つの理由</a:t>
            </a:r>
            <a:endParaRPr lang="en-US" sz="2800" dirty="0"/>
          </a:p>
        </p:txBody>
      </p:sp>
      <p:sp>
        <p:nvSpPr>
          <p:cNvPr id="3" name="reason card 1"/>
          <p:cNvSpPr/>
          <p:nvPr/>
        </p:nvSpPr>
        <p:spPr>
          <a:xfrm>
            <a:off x="640080" y="1325880"/>
            <a:ext cx="2468880" cy="2514600"/>
          </a:xfrm>
          <a:prstGeom prst="roundRect">
            <a:avLst>
              <a:gd name="adj" fmla="val 4444"/>
            </a:avLst>
          </a:prstGeom>
          <a:solidFill>
            <a:schemeClr val="bg1">
              <a:alpha val="10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4" name="reason 1 circle"/>
          <p:cNvSpPr/>
          <p:nvPr/>
        </p:nvSpPr>
        <p:spPr>
          <a:xfrm>
            <a:off x="868680" y="155448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reason 1 icon" descr="reas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0" y="1703070"/>
            <a:ext cx="297180" cy="2971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2860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京都・大阪・USJを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一度に満喫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0632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歴史、グルメ、テーマパークを3日間で全部楽しめる</a:t>
            </a:r>
            <a:endParaRPr lang="en-US" sz="1200" dirty="0"/>
          </a:p>
        </p:txBody>
      </p:sp>
      <p:sp>
        <p:nvSpPr>
          <p:cNvPr id="8" name="reason card 2"/>
          <p:cNvSpPr/>
          <p:nvPr/>
        </p:nvSpPr>
        <p:spPr>
          <a:xfrm>
            <a:off x="3337560" y="1325880"/>
            <a:ext cx="2468880" cy="2514600"/>
          </a:xfrm>
          <a:prstGeom prst="roundRect">
            <a:avLst>
              <a:gd name="adj" fmla="val 4444"/>
            </a:avLst>
          </a:prstGeom>
          <a:solidFill>
            <a:schemeClr val="bg1">
              <a:alpha val="10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9" name="reason 2 circle"/>
          <p:cNvSpPr/>
          <p:nvPr/>
        </p:nvSpPr>
        <p:spPr>
          <a:xfrm>
            <a:off x="3566160" y="155448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reason 2 icon" descr="reas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4750" y="1703070"/>
            <a:ext cx="297180" cy="2971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66160" y="22860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高校生にも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やさしい費用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566160" y="30632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学割・4人1室・平日出発で約6.5万円</a:t>
            </a:r>
            <a:endParaRPr lang="en-US" sz="1200" dirty="0"/>
          </a:p>
        </p:txBody>
      </p:sp>
      <p:sp>
        <p:nvSpPr>
          <p:cNvPr id="13" name="reason card 3"/>
          <p:cNvSpPr/>
          <p:nvPr/>
        </p:nvSpPr>
        <p:spPr>
          <a:xfrm>
            <a:off x="6035040" y="1325880"/>
            <a:ext cx="2468880" cy="2514600"/>
          </a:xfrm>
          <a:prstGeom prst="roundRect">
            <a:avLst>
              <a:gd name="adj" fmla="val 4444"/>
            </a:avLst>
          </a:prstGeom>
          <a:solidFill>
            <a:schemeClr val="bg1">
              <a:alpha val="10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4" name="reason 3 circle"/>
          <p:cNvSpPr/>
          <p:nvPr/>
        </p:nvSpPr>
        <p:spPr>
          <a:xfrm>
            <a:off x="6263640" y="155448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reason 3 icon" descr="reas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2230" y="1703070"/>
            <a:ext cx="297180" cy="2971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263640" y="22860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移動がラクで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安心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6263640" y="30632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新幹線で乗り換えなし。ホテルは2泊とも同じ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640080" y="41605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最高の卒業旅行にしましょう！　ご清聴ありがとうございました</a:t>
            </a:r>
            <a:endParaRPr lang="en-US" sz="1600" dirty="0"/>
          </a:p>
        </p:txBody>
      </p:sp>
      <p:sp>
        <p:nvSpPr>
          <p:cNvPr id="20" name="Text 0"/>
          <p:cNvSpPr/>
          <p:nvPr>
            <p:ph idx="100" type="title" hasCustomPrompt="1"/>
          </p:nvPr>
        </p:nvSpPr>
        <p:spPr>
          <a:xfrm>
            <a:off x="640080" y="1417320"/>
            <a:ext cx="7863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1" name="Text 0"/>
          <p:cNvSpPr/>
          <p:nvPr>
            <p:ph idx="101" type="body" hasCustomPrompt="1"/>
          </p:nvPr>
        </p:nvSpPr>
        <p:spPr>
          <a:xfrm>
            <a:off x="640080" y="24688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otsugyo Ryoko">
  <a:themeElements>
    <a:clrScheme name="Sotsugyo Ryoko">
      <a:dk1>
        <a:srgbClr val="2A2A35"/>
      </a:dk1>
      <a:lt1>
        <a:srgbClr val="FFFFFF"/>
      </a:lt1>
      <a:dk2>
        <a:srgbClr val="1F2A44"/>
      </a:dk2>
      <a:lt2>
        <a:srgbClr val="F7F1F3"/>
      </a:lt2>
      <a:accent1>
        <a:srgbClr val="D9453B"/>
      </a:accent1>
      <a:accent2>
        <a:srgbClr val="F2B8C6"/>
      </a:accent2>
      <a:accent3>
        <a:srgbClr val="E9A23B"/>
      </a:accent3>
      <a:accent4>
        <a:srgbClr val="3A7D7B"/>
      </a:accent4>
      <a:accent5>
        <a:srgbClr val="6B5B95"/>
      </a:accent5>
      <a:accent6>
        <a:srgbClr val="8A8A99"/>
      </a:accent6>
      <a:hlink>
        <a:srgbClr val="D9453B"/>
      </a:hlink>
      <a:folHlink>
        <a:srgbClr val="6B5B95"/>
      </a:folHlink>
    </a:clrScheme>
    <a:fontScheme name="Sotsugyo Ryoko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卒業旅行プラン 京都・大阪 2泊3日</dc:title>
  <dc:subject>PptxGenJS Presentation</dc:subject>
  <dc:creator>ソフトウェア活用 2学期課題</dc:creator>
  <cp:lastModifiedBy>ソフトウェア活用 2学期課題</cp:lastModifiedBy>
  <cp:revision>1</cp:revision>
  <dcterms:created xsi:type="dcterms:W3CDTF">2026-10-21T00:33:05Z</dcterms:created>
  <dcterms:modified xsi:type="dcterms:W3CDTF">2026-10-21T00:33:05Z</dcterms:modified>
</cp:coreProperties>
</file>